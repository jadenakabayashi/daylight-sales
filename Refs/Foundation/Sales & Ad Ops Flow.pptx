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46eeb3e2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46eeb3e2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46eeb3e2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46eeb3e2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rive.google.com/drive/folders/16iR_xzYGar5RDNxGl8ScDzWfLqHU6o6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6" y="744575"/>
            <a:ext cx="25482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RFP</a:t>
            </a:r>
            <a:endParaRPr/>
          </a:p>
          <a:p>
            <a:pPr indent="0" lvl="0" marL="0" rtl="0" algn="ctr">
              <a:spcBef>
                <a:spcPts val="0"/>
              </a:spcBef>
              <a:spcAft>
                <a:spcPts val="0"/>
              </a:spcAft>
              <a:buNone/>
            </a:pPr>
            <a:r>
              <a:rPr lang="en" sz="1200"/>
              <a:t>Client will send a request for proposal. This request will include the Brand, target Demographics, and any other specific campaign requirements including but not limited to read type, required attribution capabilities, or desired CPM. Same brand brief and submission template </a:t>
            </a:r>
            <a:r>
              <a:rPr lang="en" sz="1200" u="sng">
                <a:solidFill>
                  <a:schemeClr val="hlink"/>
                </a:solidFill>
                <a:hlinkClick r:id="rId3"/>
              </a:rPr>
              <a:t>here</a:t>
            </a:r>
            <a:r>
              <a:rPr lang="en" sz="1200"/>
              <a:t>. </a:t>
            </a:r>
            <a:endParaRPr sz="1200"/>
          </a:p>
        </p:txBody>
      </p:sp>
      <p:sp>
        <p:nvSpPr>
          <p:cNvPr id="55" name="Google Shape;55;p13"/>
          <p:cNvSpPr txBox="1"/>
          <p:nvPr>
            <p:ph idx="1" type="subTitle"/>
          </p:nvPr>
        </p:nvSpPr>
        <p:spPr>
          <a:xfrm>
            <a:off x="5239125" y="1374575"/>
            <a:ext cx="3755700" cy="7926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lang="en"/>
              <a:t>Competitive Advertiser Check</a:t>
            </a:r>
            <a:endParaRPr/>
          </a:p>
          <a:p>
            <a:pPr indent="0" lvl="0" marL="0" marR="0" rtl="0" algn="ctr">
              <a:lnSpc>
                <a:spcPct val="100000"/>
              </a:lnSpc>
              <a:spcBef>
                <a:spcPts val="0"/>
              </a:spcBef>
              <a:spcAft>
                <a:spcPts val="0"/>
              </a:spcAft>
              <a:buNone/>
            </a:pPr>
            <a:r>
              <a:rPr lang="en" sz="1200"/>
              <a:t>Starting from the full Rate Card, </a:t>
            </a:r>
            <a:r>
              <a:rPr lang="en" sz="1200"/>
              <a:t>salesperson</a:t>
            </a:r>
            <a:r>
              <a:rPr lang="en" sz="1200"/>
              <a:t> has to check to see which shows we are not able to include due to a competitor already active on the show. Standard category exclusivity is only secured by buy 3 embedded spots or 3 months of DAI impressions. We hold </a:t>
            </a:r>
            <a:r>
              <a:rPr lang="en" sz="1200"/>
              <a:t>exclusivity</a:t>
            </a:r>
            <a:r>
              <a:rPr lang="en" sz="1200"/>
              <a:t> for 30 days after </a:t>
            </a:r>
            <a:r>
              <a:rPr lang="en" sz="1200"/>
              <a:t>the last ad airs. The seller </a:t>
            </a:r>
            <a:r>
              <a:rPr lang="en" sz="1200">
                <a:solidFill>
                  <a:schemeClr val="dk1"/>
                </a:solidFill>
              </a:rPr>
              <a:t>must</a:t>
            </a:r>
            <a:r>
              <a:rPr lang="en" sz="1200"/>
              <a:t> remove any shows that are working with competitive brands from the Rate Card. </a:t>
            </a:r>
            <a:endParaRPr sz="1200"/>
          </a:p>
        </p:txBody>
      </p:sp>
      <p:sp>
        <p:nvSpPr>
          <p:cNvPr id="56" name="Google Shape;56;p13"/>
          <p:cNvSpPr txBox="1"/>
          <p:nvPr>
            <p:ph idx="1" type="subTitle"/>
          </p:nvPr>
        </p:nvSpPr>
        <p:spPr>
          <a:xfrm>
            <a:off x="5461900" y="3432025"/>
            <a:ext cx="3472200" cy="7926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lang="en"/>
              <a:t>Check Previous Vetting Response. </a:t>
            </a:r>
            <a:endParaRPr/>
          </a:p>
          <a:p>
            <a:pPr indent="0" lvl="0" marL="0" rtl="0" algn="ctr">
              <a:spcBef>
                <a:spcPts val="0"/>
              </a:spcBef>
              <a:spcAft>
                <a:spcPts val="0"/>
              </a:spcAft>
              <a:buNone/>
            </a:pPr>
            <a:r>
              <a:rPr lang="en" sz="1200"/>
              <a:t>Seller must check to see if there are any previous vetting responses for the brand and remove any show that has declined the vet.</a:t>
            </a:r>
            <a:endParaRPr sz="1200"/>
          </a:p>
        </p:txBody>
      </p:sp>
      <p:cxnSp>
        <p:nvCxnSpPr>
          <p:cNvPr id="57" name="Google Shape;57;p13"/>
          <p:cNvCxnSpPr/>
          <p:nvPr/>
        </p:nvCxnSpPr>
        <p:spPr>
          <a:xfrm>
            <a:off x="3042025" y="1801350"/>
            <a:ext cx="2035200" cy="20400"/>
          </a:xfrm>
          <a:prstGeom prst="straightConnector1">
            <a:avLst/>
          </a:prstGeom>
          <a:noFill/>
          <a:ln cap="flat" cmpd="sng" w="76200">
            <a:solidFill>
              <a:schemeClr val="dk2"/>
            </a:solidFill>
            <a:prstDash val="solid"/>
            <a:round/>
            <a:headEnd len="med" w="med" type="none"/>
            <a:tailEnd len="med" w="med" type="none"/>
          </a:ln>
        </p:spPr>
      </p:cxnSp>
      <p:cxnSp>
        <p:nvCxnSpPr>
          <p:cNvPr id="58" name="Google Shape;58;p13"/>
          <p:cNvCxnSpPr/>
          <p:nvPr/>
        </p:nvCxnSpPr>
        <p:spPr>
          <a:xfrm>
            <a:off x="7116975" y="2167175"/>
            <a:ext cx="25800" cy="575700"/>
          </a:xfrm>
          <a:prstGeom prst="straightConnector1">
            <a:avLst/>
          </a:prstGeom>
          <a:noFill/>
          <a:ln cap="flat" cmpd="sng" w="9525">
            <a:solidFill>
              <a:schemeClr val="dk2"/>
            </a:solidFill>
            <a:prstDash val="solid"/>
            <a:round/>
            <a:headEnd len="med" w="med" type="none"/>
            <a:tailEnd len="med" w="med" type="none"/>
          </a:ln>
        </p:spPr>
      </p:cxnSp>
      <p:cxnSp>
        <p:nvCxnSpPr>
          <p:cNvPr id="59" name="Google Shape;59;p13"/>
          <p:cNvCxnSpPr/>
          <p:nvPr/>
        </p:nvCxnSpPr>
        <p:spPr>
          <a:xfrm rot="10800000">
            <a:off x="7112500" y="2187450"/>
            <a:ext cx="50400" cy="1112400"/>
          </a:xfrm>
          <a:prstGeom prst="straightConnector1">
            <a:avLst/>
          </a:prstGeom>
          <a:noFill/>
          <a:ln cap="flat" cmpd="sng" w="76200">
            <a:solidFill>
              <a:schemeClr val="dk2"/>
            </a:solidFill>
            <a:prstDash val="solid"/>
            <a:round/>
            <a:headEnd len="med" w="med" type="none"/>
            <a:tailEnd len="med" w="med" type="none"/>
          </a:ln>
        </p:spPr>
      </p:cxnSp>
      <p:cxnSp>
        <p:nvCxnSpPr>
          <p:cNvPr id="60" name="Google Shape;60;p13"/>
          <p:cNvCxnSpPr/>
          <p:nvPr/>
        </p:nvCxnSpPr>
        <p:spPr>
          <a:xfrm>
            <a:off x="3203925" y="3818125"/>
            <a:ext cx="2035200" cy="20400"/>
          </a:xfrm>
          <a:prstGeom prst="straightConnector1">
            <a:avLst/>
          </a:prstGeom>
          <a:noFill/>
          <a:ln cap="flat" cmpd="sng" w="76200">
            <a:solidFill>
              <a:schemeClr val="dk2"/>
            </a:solidFill>
            <a:prstDash val="solid"/>
            <a:round/>
            <a:headEnd len="med" w="med" type="none"/>
            <a:tailEnd len="med" w="med" type="none"/>
          </a:ln>
        </p:spPr>
      </p:cxnSp>
      <p:sp>
        <p:nvSpPr>
          <p:cNvPr id="61" name="Google Shape;61;p13"/>
          <p:cNvSpPr txBox="1"/>
          <p:nvPr/>
        </p:nvSpPr>
        <p:spPr>
          <a:xfrm>
            <a:off x="136150" y="3228975"/>
            <a:ext cx="2723700" cy="13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Further</a:t>
            </a:r>
            <a:r>
              <a:rPr lang="en" sz="1800">
                <a:solidFill>
                  <a:schemeClr val="dk2"/>
                </a:solidFill>
              </a:rPr>
              <a:t> filter rate card down to include shows within the requested criteria (from RFP) (or close to </a:t>
            </a:r>
            <a:r>
              <a:rPr lang="en" sz="1800">
                <a:solidFill>
                  <a:schemeClr val="dk2"/>
                </a:solidFill>
              </a:rPr>
              <a:t>criteria</a:t>
            </a:r>
            <a:r>
              <a:rPr lang="en" sz="1800">
                <a:solidFill>
                  <a:schemeClr val="dk2"/>
                </a:solidFill>
              </a:rPr>
              <a:t>) </a:t>
            </a:r>
            <a:endParaRPr sz="1800">
              <a:solidFill>
                <a:schemeClr val="dk2"/>
              </a:solidFill>
            </a:endParaRPr>
          </a:p>
        </p:txBody>
      </p:sp>
      <p:cxnSp>
        <p:nvCxnSpPr>
          <p:cNvPr id="62" name="Google Shape;62;p13"/>
          <p:cNvCxnSpPr>
            <a:endCxn id="61" idx="2"/>
          </p:cNvCxnSpPr>
          <p:nvPr/>
        </p:nvCxnSpPr>
        <p:spPr>
          <a:xfrm rot="10800000">
            <a:off x="1498000" y="4585875"/>
            <a:ext cx="25200" cy="1318200"/>
          </a:xfrm>
          <a:prstGeom prst="straightConnector1">
            <a:avLst/>
          </a:prstGeom>
          <a:noFill/>
          <a:ln cap="flat" cmpd="sng" w="76200">
            <a:solidFill>
              <a:schemeClr val="dk2"/>
            </a:solidFill>
            <a:prstDash val="solid"/>
            <a:round/>
            <a:headEnd len="med" w="med" type="none"/>
            <a:tailEnd len="med" w="med" type="none"/>
          </a:ln>
        </p:spPr>
      </p:cxnSp>
      <p:sp>
        <p:nvSpPr>
          <p:cNvPr id="63" name="Google Shape;63;p13"/>
          <p:cNvSpPr txBox="1"/>
          <p:nvPr/>
        </p:nvSpPr>
        <p:spPr>
          <a:xfrm>
            <a:off x="3355900" y="262350"/>
            <a:ext cx="3128700" cy="5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All sellers responsibilities</a:t>
            </a:r>
            <a:endParaRPr sz="1800">
              <a:solidFill>
                <a:schemeClr val="dk2"/>
              </a:solidFill>
            </a:endParaRPr>
          </a:p>
        </p:txBody>
      </p:sp>
      <p:sp>
        <p:nvSpPr>
          <p:cNvPr id="64" name="Google Shape;64;p13"/>
          <p:cNvSpPr txBox="1"/>
          <p:nvPr/>
        </p:nvSpPr>
        <p:spPr>
          <a:xfrm>
            <a:off x="1665025" y="4879350"/>
            <a:ext cx="1377000" cy="1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Handoff to adops</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401925" y="500525"/>
            <a:ext cx="2944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Vet any shows who have not previously approved and fit within the demos</a:t>
            </a:r>
            <a:endParaRPr/>
          </a:p>
        </p:txBody>
      </p:sp>
      <p:sp>
        <p:nvSpPr>
          <p:cNvPr id="70" name="Google Shape;70;p14"/>
          <p:cNvSpPr txBox="1"/>
          <p:nvPr>
            <p:ph idx="1" type="body"/>
          </p:nvPr>
        </p:nvSpPr>
        <p:spPr>
          <a:xfrm>
            <a:off x="4324325" y="560400"/>
            <a:ext cx="4507800" cy="111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Once we </a:t>
            </a:r>
            <a:r>
              <a:rPr lang="en"/>
              <a:t>received</a:t>
            </a:r>
            <a:r>
              <a:rPr lang="en"/>
              <a:t> vetting responses, remove any shows that declined. </a:t>
            </a:r>
            <a:endParaRPr/>
          </a:p>
        </p:txBody>
      </p:sp>
      <p:sp>
        <p:nvSpPr>
          <p:cNvPr id="71" name="Google Shape;71;p14"/>
          <p:cNvSpPr txBox="1"/>
          <p:nvPr>
            <p:ph idx="1" type="body"/>
          </p:nvPr>
        </p:nvSpPr>
        <p:spPr>
          <a:xfrm>
            <a:off x="4517225" y="2011950"/>
            <a:ext cx="4507800" cy="111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Add vetting “WHYS” to Rate Card.  </a:t>
            </a:r>
            <a:endParaRPr/>
          </a:p>
        </p:txBody>
      </p:sp>
      <p:sp>
        <p:nvSpPr>
          <p:cNvPr id="72" name="Google Shape;72;p14"/>
          <p:cNvSpPr txBox="1"/>
          <p:nvPr>
            <p:ph idx="1" type="body"/>
          </p:nvPr>
        </p:nvSpPr>
        <p:spPr>
          <a:xfrm>
            <a:off x="4572000" y="2873100"/>
            <a:ext cx="4507800" cy="811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Has the client given us a template to fill out?  </a:t>
            </a:r>
            <a:endParaRPr/>
          </a:p>
        </p:txBody>
      </p:sp>
      <p:sp>
        <p:nvSpPr>
          <p:cNvPr id="73" name="Google Shape;73;p14"/>
          <p:cNvSpPr txBox="1"/>
          <p:nvPr>
            <p:ph idx="1" type="body"/>
          </p:nvPr>
        </p:nvSpPr>
        <p:spPr>
          <a:xfrm>
            <a:off x="1280275" y="3228000"/>
            <a:ext cx="3091800" cy="111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No. </a:t>
            </a:r>
            <a:r>
              <a:rPr lang="en"/>
              <a:t>Submit</a:t>
            </a:r>
            <a:r>
              <a:rPr lang="en"/>
              <a:t> RFP via email  </a:t>
            </a:r>
            <a:endParaRPr/>
          </a:p>
        </p:txBody>
      </p:sp>
      <p:sp>
        <p:nvSpPr>
          <p:cNvPr id="74" name="Google Shape;74;p14"/>
          <p:cNvSpPr txBox="1"/>
          <p:nvPr>
            <p:ph idx="1" type="body"/>
          </p:nvPr>
        </p:nvSpPr>
        <p:spPr>
          <a:xfrm>
            <a:off x="4372075" y="4108875"/>
            <a:ext cx="4507800" cy="811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Yes. Transfer Rate card data to client template. Sample template here. </a:t>
            </a:r>
            <a:endParaRPr/>
          </a:p>
        </p:txBody>
      </p:sp>
      <p:sp>
        <p:nvSpPr>
          <p:cNvPr id="75" name="Google Shape;75;p14"/>
          <p:cNvSpPr txBox="1"/>
          <p:nvPr>
            <p:ph idx="1" type="body"/>
          </p:nvPr>
        </p:nvSpPr>
        <p:spPr>
          <a:xfrm>
            <a:off x="551800" y="4108875"/>
            <a:ext cx="3091800" cy="1119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Submit RFP via email  </a:t>
            </a:r>
            <a:endParaRPr/>
          </a:p>
        </p:txBody>
      </p:sp>
      <p:cxnSp>
        <p:nvCxnSpPr>
          <p:cNvPr id="76" name="Google Shape;76;p14"/>
          <p:cNvCxnSpPr>
            <a:endCxn id="70" idx="1"/>
          </p:cNvCxnSpPr>
          <p:nvPr/>
        </p:nvCxnSpPr>
        <p:spPr>
          <a:xfrm flipH="1" rot="10800000">
            <a:off x="3528125" y="1120200"/>
            <a:ext cx="796200" cy="33300"/>
          </a:xfrm>
          <a:prstGeom prst="straightConnector1">
            <a:avLst/>
          </a:prstGeom>
          <a:noFill/>
          <a:ln cap="flat" cmpd="sng" w="38100">
            <a:solidFill>
              <a:schemeClr val="dk2"/>
            </a:solidFill>
            <a:prstDash val="solid"/>
            <a:round/>
            <a:headEnd len="med" w="med" type="none"/>
            <a:tailEnd len="med" w="med" type="none"/>
          </a:ln>
        </p:spPr>
      </p:cxnSp>
      <p:cxnSp>
        <p:nvCxnSpPr>
          <p:cNvPr id="77" name="Google Shape;77;p14"/>
          <p:cNvCxnSpPr/>
          <p:nvPr/>
        </p:nvCxnSpPr>
        <p:spPr>
          <a:xfrm>
            <a:off x="6099775" y="1426725"/>
            <a:ext cx="50700" cy="536700"/>
          </a:xfrm>
          <a:prstGeom prst="straightConnector1">
            <a:avLst/>
          </a:prstGeom>
          <a:noFill/>
          <a:ln cap="flat" cmpd="sng" w="38100">
            <a:solidFill>
              <a:schemeClr val="dk2"/>
            </a:solidFill>
            <a:prstDash val="solid"/>
            <a:round/>
            <a:headEnd len="med" w="med" type="none"/>
            <a:tailEnd len="med" w="med" type="none"/>
          </a:ln>
        </p:spPr>
      </p:cxnSp>
      <p:cxnSp>
        <p:nvCxnSpPr>
          <p:cNvPr id="78" name="Google Shape;78;p14"/>
          <p:cNvCxnSpPr/>
          <p:nvPr/>
        </p:nvCxnSpPr>
        <p:spPr>
          <a:xfrm>
            <a:off x="6150475" y="2490375"/>
            <a:ext cx="50700" cy="536700"/>
          </a:xfrm>
          <a:prstGeom prst="straightConnector1">
            <a:avLst/>
          </a:prstGeom>
          <a:noFill/>
          <a:ln cap="flat" cmpd="sng" w="38100">
            <a:solidFill>
              <a:schemeClr val="dk2"/>
            </a:solidFill>
            <a:prstDash val="solid"/>
            <a:round/>
            <a:headEnd len="med" w="med" type="none"/>
            <a:tailEnd len="med" w="med" type="none"/>
          </a:ln>
        </p:spPr>
      </p:cxnSp>
      <p:cxnSp>
        <p:nvCxnSpPr>
          <p:cNvPr id="79" name="Google Shape;79;p14"/>
          <p:cNvCxnSpPr/>
          <p:nvPr/>
        </p:nvCxnSpPr>
        <p:spPr>
          <a:xfrm>
            <a:off x="6150475" y="3554025"/>
            <a:ext cx="50700" cy="536700"/>
          </a:xfrm>
          <a:prstGeom prst="straightConnector1">
            <a:avLst/>
          </a:prstGeom>
          <a:noFill/>
          <a:ln cap="flat" cmpd="sng" w="38100">
            <a:solidFill>
              <a:schemeClr val="dk2"/>
            </a:solidFill>
            <a:prstDash val="solid"/>
            <a:round/>
            <a:headEnd len="med" w="med" type="none"/>
            <a:tailEnd len="med" w="med" type="none"/>
          </a:ln>
        </p:spPr>
      </p:cxnSp>
      <p:cxnSp>
        <p:nvCxnSpPr>
          <p:cNvPr id="80" name="Google Shape;80;p14"/>
          <p:cNvCxnSpPr>
            <a:stCxn id="72" idx="1"/>
          </p:cNvCxnSpPr>
          <p:nvPr/>
        </p:nvCxnSpPr>
        <p:spPr>
          <a:xfrm flipH="1">
            <a:off x="4034400" y="3278850"/>
            <a:ext cx="537600" cy="142500"/>
          </a:xfrm>
          <a:prstGeom prst="straightConnector1">
            <a:avLst/>
          </a:prstGeom>
          <a:noFill/>
          <a:ln cap="flat" cmpd="sng" w="38100">
            <a:solidFill>
              <a:schemeClr val="dk2"/>
            </a:solidFill>
            <a:prstDash val="solid"/>
            <a:round/>
            <a:headEnd len="med" w="med" type="none"/>
            <a:tailEnd len="med" w="med" type="none"/>
          </a:ln>
        </p:spPr>
      </p:cxnSp>
      <p:cxnSp>
        <p:nvCxnSpPr>
          <p:cNvPr id="81" name="Google Shape;81;p14"/>
          <p:cNvCxnSpPr>
            <a:stCxn id="74" idx="1"/>
          </p:cNvCxnSpPr>
          <p:nvPr/>
        </p:nvCxnSpPr>
        <p:spPr>
          <a:xfrm rot="10800000">
            <a:off x="2991475" y="4413525"/>
            <a:ext cx="1380600" cy="101100"/>
          </a:xfrm>
          <a:prstGeom prst="straightConnector1">
            <a:avLst/>
          </a:prstGeom>
          <a:noFill/>
          <a:ln cap="flat" cmpd="sng" w="38100">
            <a:solidFill>
              <a:schemeClr val="dk2"/>
            </a:solidFill>
            <a:prstDash val="solid"/>
            <a:round/>
            <a:headEnd len="med" w="med" type="none"/>
            <a:tailEnd len="med" w="med" type="none"/>
          </a:ln>
        </p:spPr>
      </p:cxnSp>
      <p:cxnSp>
        <p:nvCxnSpPr>
          <p:cNvPr id="82" name="Google Shape;82;p14"/>
          <p:cNvCxnSpPr/>
          <p:nvPr/>
        </p:nvCxnSpPr>
        <p:spPr>
          <a:xfrm flipH="1">
            <a:off x="1543675" y="4697100"/>
            <a:ext cx="20100" cy="4758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Feedback from client</a:t>
            </a:r>
            <a:endParaRPr/>
          </a:p>
        </p:txBody>
      </p:sp>
      <p:cxnSp>
        <p:nvCxnSpPr>
          <p:cNvPr id="88" name="Google Shape;88;p15"/>
          <p:cNvCxnSpPr/>
          <p:nvPr/>
        </p:nvCxnSpPr>
        <p:spPr>
          <a:xfrm flipH="1">
            <a:off x="1511900" y="998275"/>
            <a:ext cx="1498800" cy="360900"/>
          </a:xfrm>
          <a:prstGeom prst="straightConnector1">
            <a:avLst/>
          </a:prstGeom>
          <a:noFill/>
          <a:ln cap="flat" cmpd="sng" w="38100">
            <a:solidFill>
              <a:schemeClr val="dk2"/>
            </a:solidFill>
            <a:prstDash val="solid"/>
            <a:round/>
            <a:headEnd len="med" w="med" type="none"/>
            <a:tailEnd len="med" w="med" type="none"/>
          </a:ln>
        </p:spPr>
      </p:cxnSp>
      <p:sp>
        <p:nvSpPr>
          <p:cNvPr id="89" name="Google Shape;89;p15"/>
          <p:cNvSpPr txBox="1"/>
          <p:nvPr/>
        </p:nvSpPr>
        <p:spPr>
          <a:xfrm>
            <a:off x="216925" y="1516325"/>
            <a:ext cx="19704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Client buys no shows. </a:t>
            </a:r>
            <a:endParaRPr sz="1800">
              <a:solidFill>
                <a:schemeClr val="dk2"/>
              </a:solidFill>
            </a:endParaRPr>
          </a:p>
        </p:txBody>
      </p:sp>
      <p:cxnSp>
        <p:nvCxnSpPr>
          <p:cNvPr id="90" name="Google Shape;90;p15"/>
          <p:cNvCxnSpPr/>
          <p:nvPr/>
        </p:nvCxnSpPr>
        <p:spPr>
          <a:xfrm flipH="1">
            <a:off x="3963450" y="1090775"/>
            <a:ext cx="74100" cy="1424700"/>
          </a:xfrm>
          <a:prstGeom prst="straightConnector1">
            <a:avLst/>
          </a:prstGeom>
          <a:noFill/>
          <a:ln cap="flat" cmpd="sng" w="38100">
            <a:solidFill>
              <a:schemeClr val="dk2"/>
            </a:solidFill>
            <a:prstDash val="solid"/>
            <a:round/>
            <a:headEnd len="med" w="med" type="none"/>
            <a:tailEnd len="med" w="med" type="none"/>
          </a:ln>
        </p:spPr>
      </p:cxnSp>
      <p:sp>
        <p:nvSpPr>
          <p:cNvPr id="91" name="Google Shape;91;p15"/>
          <p:cNvSpPr txBox="1"/>
          <p:nvPr/>
        </p:nvSpPr>
        <p:spPr>
          <a:xfrm>
            <a:off x="2783825" y="2588525"/>
            <a:ext cx="19704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Client wants one or some shows.  </a:t>
            </a:r>
            <a:endParaRPr sz="1800">
              <a:solidFill>
                <a:schemeClr val="dk2"/>
              </a:solidFill>
            </a:endParaRPr>
          </a:p>
        </p:txBody>
      </p:sp>
      <p:cxnSp>
        <p:nvCxnSpPr>
          <p:cNvPr id="92" name="Google Shape;92;p15"/>
          <p:cNvCxnSpPr/>
          <p:nvPr/>
        </p:nvCxnSpPr>
        <p:spPr>
          <a:xfrm>
            <a:off x="5388175" y="1090775"/>
            <a:ext cx="2275800" cy="1230300"/>
          </a:xfrm>
          <a:prstGeom prst="straightConnector1">
            <a:avLst/>
          </a:prstGeom>
          <a:noFill/>
          <a:ln cap="flat" cmpd="sng" w="38100">
            <a:solidFill>
              <a:schemeClr val="dk2"/>
            </a:solidFill>
            <a:prstDash val="solid"/>
            <a:round/>
            <a:headEnd len="med" w="med" type="none"/>
            <a:tailEnd len="med" w="med" type="none"/>
          </a:ln>
        </p:spPr>
      </p:cxnSp>
      <p:sp>
        <p:nvSpPr>
          <p:cNvPr id="93" name="Google Shape;93;p15"/>
          <p:cNvSpPr txBox="1"/>
          <p:nvPr/>
        </p:nvSpPr>
        <p:spPr>
          <a:xfrm>
            <a:off x="6712850" y="2588525"/>
            <a:ext cx="19704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Client wants all shows</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